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2"/>
  </p:notesMasterIdLst>
  <p:handoutMasterIdLst>
    <p:handoutMasterId r:id="rId13"/>
  </p:handoutMasterIdLst>
  <p:sldIdLst>
    <p:sldId id="1497" r:id="rId5"/>
    <p:sldId id="1514" r:id="rId6"/>
    <p:sldId id="1517" r:id="rId7"/>
    <p:sldId id="1499" r:id="rId8"/>
    <p:sldId id="1500" r:id="rId9"/>
    <p:sldId id="1515" r:id="rId10"/>
    <p:sldId id="15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93D94-A727-E764-34E7-2ADBE7FCBB1A}" v="577" dt="2026-05-05T16:49:01.136"/>
    <p1510:client id="{99FF5A9B-826A-050F-C3B2-22BDA040C0C1}" v="677" dt="2026-05-03T22:46:55.291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9" autoAdjust="0"/>
  </p:normalViewPr>
  <p:slideViewPr>
    <p:cSldViewPr snapToGrid="0">
      <p:cViewPr>
        <p:scale>
          <a:sx n="100" d="100"/>
          <a:sy n="100" d="100"/>
        </p:scale>
        <p:origin x="-82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64056B-DFF7-4038-9C41-155B1ACD531E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30DD1F1-FEDA-453D-AA47-CDA12398060C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 b="1">
              <a:latin typeface="Poppins Light"/>
              <a:ea typeface="+mn-ea"/>
              <a:cs typeface="+mn-cs"/>
            </a:rPr>
            <a:t>Read .csv file using pandas</a:t>
          </a:r>
        </a:p>
      </dgm:t>
    </dgm:pt>
    <dgm:pt modelId="{71F96C89-00D4-4784-A9D8-258D6404145F}" type="parTrans" cxnId="{94E1B249-F77B-4F89-AD40-733F8782367F}">
      <dgm:prSet/>
      <dgm:spPr/>
      <dgm:t>
        <a:bodyPr/>
        <a:lstStyle/>
        <a:p>
          <a:endParaRPr lang="en-US"/>
        </a:p>
      </dgm:t>
    </dgm:pt>
    <dgm:pt modelId="{0A00F8D5-999D-4E55-B06D-DF0EFA60C18A}" type="sibTrans" cxnId="{94E1B249-F77B-4F89-AD40-733F8782367F}">
      <dgm:prSet/>
      <dgm:spPr/>
      <dgm:t>
        <a:bodyPr/>
        <a:lstStyle/>
        <a:p>
          <a:endParaRPr lang="en-US"/>
        </a:p>
      </dgm:t>
    </dgm:pt>
    <dgm:pt modelId="{5E5A268A-24CA-448E-8EFB-FE9BCA6E50BE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 b="1" dirty="0">
              <a:latin typeface="Poppins Light"/>
              <a:ea typeface="+mn-ea"/>
              <a:cs typeface="+mn-cs"/>
            </a:rPr>
            <a:t>Price plotted per market </a:t>
          </a:r>
          <a:r>
            <a:rPr lang="en-US" sz="2700" b="1" dirty="0" err="1">
              <a:latin typeface="Poppins Light"/>
              <a:ea typeface="+mn-ea"/>
              <a:cs typeface="+mn-cs"/>
            </a:rPr>
            <a:t>snapsho</a:t>
          </a:r>
          <a:r>
            <a:rPr lang="en-US" sz="2700" b="1" dirty="0">
              <a:latin typeface="Poppins Light"/>
              <a:ea typeface="+mn-ea"/>
              <a:cs typeface="+mn-cs"/>
            </a:rPr>
            <a:t>t</a:t>
          </a:r>
        </a:p>
      </dgm:t>
    </dgm:pt>
    <dgm:pt modelId="{FB69052B-9FCC-4CDC-A781-527A9B117855}" type="parTrans" cxnId="{78FFF30A-7172-4808-914B-B4BAD398DB87}">
      <dgm:prSet/>
      <dgm:spPr/>
    </dgm:pt>
    <dgm:pt modelId="{D7F3D419-A3E0-4720-A221-EEF7B3B04106}" type="sibTrans" cxnId="{78FFF30A-7172-4808-914B-B4BAD398DB87}">
      <dgm:prSet/>
      <dgm:spPr/>
    </dgm:pt>
    <dgm:pt modelId="{B9087EEC-19E1-40B6-A22D-7E9CC6108827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 b="1" dirty="0">
              <a:latin typeface="Poppins Light"/>
              <a:ea typeface="+mn-ea"/>
              <a:cs typeface="+mn-cs"/>
            </a:rPr>
            <a:t>Chart updated every 5 seconds</a:t>
          </a:r>
        </a:p>
      </dgm:t>
    </dgm:pt>
    <dgm:pt modelId="{344DAC3A-084A-49AB-AAA8-C1998B34617B}" type="parTrans" cxnId="{4CFB6BD8-2AEA-44EB-B253-254BFAAB1E14}">
      <dgm:prSet/>
      <dgm:spPr/>
    </dgm:pt>
    <dgm:pt modelId="{7AAD81DA-4849-4817-B97A-E9D2E1561A55}" type="sibTrans" cxnId="{4CFB6BD8-2AEA-44EB-B253-254BFAAB1E14}">
      <dgm:prSet/>
      <dgm:spPr/>
    </dgm:pt>
    <dgm:pt modelId="{4F109C17-6E13-49BB-A02D-89F8482A5034}" type="pres">
      <dgm:prSet presAssocID="{6864056B-DFF7-4038-9C41-155B1ACD53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9FB19C0-3BEA-4360-8EBD-FFAF8FD54080}" type="pres">
      <dgm:prSet presAssocID="{630DD1F1-FEDA-453D-AA47-CDA12398060C}" presName="hierRoot1" presStyleCnt="0"/>
      <dgm:spPr/>
    </dgm:pt>
    <dgm:pt modelId="{4C86A147-25DA-4136-B4C1-B06B6ACF313E}" type="pres">
      <dgm:prSet presAssocID="{630DD1F1-FEDA-453D-AA47-CDA12398060C}" presName="composite" presStyleCnt="0"/>
      <dgm:spPr/>
    </dgm:pt>
    <dgm:pt modelId="{4110CD96-507F-4020-8CC1-EFDB935E8AB6}" type="pres">
      <dgm:prSet presAssocID="{630DD1F1-FEDA-453D-AA47-CDA12398060C}" presName="background" presStyleLbl="node0" presStyleIdx="0" presStyleCnt="3"/>
      <dgm:spPr/>
    </dgm:pt>
    <dgm:pt modelId="{A71BFB4C-5091-4D4E-A672-F18BB1EDFA9A}" type="pres">
      <dgm:prSet presAssocID="{630DD1F1-FEDA-453D-AA47-CDA12398060C}" presName="text" presStyleLbl="fgAcc0" presStyleIdx="0" presStyleCnt="3">
        <dgm:presLayoutVars>
          <dgm:chPref val="3"/>
        </dgm:presLayoutVars>
      </dgm:prSet>
      <dgm:spPr/>
    </dgm:pt>
    <dgm:pt modelId="{696496CF-CE2D-419C-AA0B-CD17428BBE37}" type="pres">
      <dgm:prSet presAssocID="{630DD1F1-FEDA-453D-AA47-CDA12398060C}" presName="hierChild2" presStyleCnt="0"/>
      <dgm:spPr/>
    </dgm:pt>
    <dgm:pt modelId="{F04F19B7-89E7-4E4F-A9E6-B978F57CB734}" type="pres">
      <dgm:prSet presAssocID="{5E5A268A-24CA-448E-8EFB-FE9BCA6E50BE}" presName="hierRoot1" presStyleCnt="0"/>
      <dgm:spPr/>
    </dgm:pt>
    <dgm:pt modelId="{8F8456AD-385A-45EF-9ED1-AF1A167CFDDF}" type="pres">
      <dgm:prSet presAssocID="{5E5A268A-24CA-448E-8EFB-FE9BCA6E50BE}" presName="composite" presStyleCnt="0"/>
      <dgm:spPr/>
    </dgm:pt>
    <dgm:pt modelId="{E3375B48-32D8-404E-A989-17D1FA6FD458}" type="pres">
      <dgm:prSet presAssocID="{5E5A268A-24CA-448E-8EFB-FE9BCA6E50BE}" presName="background" presStyleLbl="node0" presStyleIdx="1" presStyleCnt="3"/>
      <dgm:spPr/>
    </dgm:pt>
    <dgm:pt modelId="{D724B68F-93DB-48C5-A2FA-96CF2B07D989}" type="pres">
      <dgm:prSet presAssocID="{5E5A268A-24CA-448E-8EFB-FE9BCA6E50BE}" presName="text" presStyleLbl="fgAcc0" presStyleIdx="1" presStyleCnt="3">
        <dgm:presLayoutVars>
          <dgm:chPref val="3"/>
        </dgm:presLayoutVars>
      </dgm:prSet>
      <dgm:spPr/>
    </dgm:pt>
    <dgm:pt modelId="{ADF29EC6-30EB-411C-B4E2-D4CDF6506C9E}" type="pres">
      <dgm:prSet presAssocID="{5E5A268A-24CA-448E-8EFB-FE9BCA6E50BE}" presName="hierChild2" presStyleCnt="0"/>
      <dgm:spPr/>
    </dgm:pt>
    <dgm:pt modelId="{166BDC6D-0490-41C6-97FB-FC0E4B4A5122}" type="pres">
      <dgm:prSet presAssocID="{B9087EEC-19E1-40B6-A22D-7E9CC6108827}" presName="hierRoot1" presStyleCnt="0"/>
      <dgm:spPr/>
    </dgm:pt>
    <dgm:pt modelId="{F7C67CDE-001D-470A-8351-50A346244C46}" type="pres">
      <dgm:prSet presAssocID="{B9087EEC-19E1-40B6-A22D-7E9CC6108827}" presName="composite" presStyleCnt="0"/>
      <dgm:spPr/>
    </dgm:pt>
    <dgm:pt modelId="{29F213C5-492A-43F6-BA97-4D5F43CBCD16}" type="pres">
      <dgm:prSet presAssocID="{B9087EEC-19E1-40B6-A22D-7E9CC6108827}" presName="background" presStyleLbl="node0" presStyleIdx="2" presStyleCnt="3"/>
      <dgm:spPr/>
    </dgm:pt>
    <dgm:pt modelId="{F6896F8F-8406-41E8-8DBE-18151F4ACFCA}" type="pres">
      <dgm:prSet presAssocID="{B9087EEC-19E1-40B6-A22D-7E9CC6108827}" presName="text" presStyleLbl="fgAcc0" presStyleIdx="2" presStyleCnt="3">
        <dgm:presLayoutVars>
          <dgm:chPref val="3"/>
        </dgm:presLayoutVars>
      </dgm:prSet>
      <dgm:spPr/>
    </dgm:pt>
    <dgm:pt modelId="{B42C5CBE-4F49-4FE7-A9C1-AC4C5D7AA4DD}" type="pres">
      <dgm:prSet presAssocID="{B9087EEC-19E1-40B6-A22D-7E9CC6108827}" presName="hierChild2" presStyleCnt="0"/>
      <dgm:spPr/>
    </dgm:pt>
  </dgm:ptLst>
  <dgm:cxnLst>
    <dgm:cxn modelId="{78FFF30A-7172-4808-914B-B4BAD398DB87}" srcId="{6864056B-DFF7-4038-9C41-155B1ACD531E}" destId="{5E5A268A-24CA-448E-8EFB-FE9BCA6E50BE}" srcOrd="1" destOrd="0" parTransId="{FB69052B-9FCC-4CDC-A781-527A9B117855}" sibTransId="{D7F3D419-A3E0-4720-A221-EEF7B3B04106}"/>
    <dgm:cxn modelId="{6F167426-AE41-4437-97F0-22C0EBE9DA3B}" type="presOf" srcId="{5E5A268A-24CA-448E-8EFB-FE9BCA6E50BE}" destId="{D724B68F-93DB-48C5-A2FA-96CF2B07D989}" srcOrd="0" destOrd="0" presId="urn:microsoft.com/office/officeart/2005/8/layout/hierarchy1"/>
    <dgm:cxn modelId="{21A51936-3A28-4709-AEEA-E213B6C7AAEC}" type="presOf" srcId="{B9087EEC-19E1-40B6-A22D-7E9CC6108827}" destId="{F6896F8F-8406-41E8-8DBE-18151F4ACFCA}" srcOrd="0" destOrd="0" presId="urn:microsoft.com/office/officeart/2005/8/layout/hierarchy1"/>
    <dgm:cxn modelId="{94E1B249-F77B-4F89-AD40-733F8782367F}" srcId="{6864056B-DFF7-4038-9C41-155B1ACD531E}" destId="{630DD1F1-FEDA-453D-AA47-CDA12398060C}" srcOrd="0" destOrd="0" parTransId="{71F96C89-00D4-4784-A9D8-258D6404145F}" sibTransId="{0A00F8D5-999D-4E55-B06D-DF0EFA60C18A}"/>
    <dgm:cxn modelId="{4CFB6BD8-2AEA-44EB-B253-254BFAAB1E14}" srcId="{6864056B-DFF7-4038-9C41-155B1ACD531E}" destId="{B9087EEC-19E1-40B6-A22D-7E9CC6108827}" srcOrd="2" destOrd="0" parTransId="{344DAC3A-084A-49AB-AAA8-C1998B34617B}" sibTransId="{7AAD81DA-4849-4817-B97A-E9D2E1561A55}"/>
    <dgm:cxn modelId="{920534E6-D145-4924-8EFC-6FEEC650ADFB}" type="presOf" srcId="{6864056B-DFF7-4038-9C41-155B1ACD531E}" destId="{4F109C17-6E13-49BB-A02D-89F8482A5034}" srcOrd="0" destOrd="0" presId="urn:microsoft.com/office/officeart/2005/8/layout/hierarchy1"/>
    <dgm:cxn modelId="{497CBEE7-3A10-492D-BF6E-8352D6911CE0}" type="presOf" srcId="{630DD1F1-FEDA-453D-AA47-CDA12398060C}" destId="{A71BFB4C-5091-4D4E-A672-F18BB1EDFA9A}" srcOrd="0" destOrd="0" presId="urn:microsoft.com/office/officeart/2005/8/layout/hierarchy1"/>
    <dgm:cxn modelId="{9A8ECDB6-CD0B-4634-A00A-57BC64884B08}" type="presParOf" srcId="{4F109C17-6E13-49BB-A02D-89F8482A5034}" destId="{29FB19C0-3BEA-4360-8EBD-FFAF8FD54080}" srcOrd="0" destOrd="0" presId="urn:microsoft.com/office/officeart/2005/8/layout/hierarchy1"/>
    <dgm:cxn modelId="{5FDD90F3-1316-4C32-A933-E68BB6C0E804}" type="presParOf" srcId="{29FB19C0-3BEA-4360-8EBD-FFAF8FD54080}" destId="{4C86A147-25DA-4136-B4C1-B06B6ACF313E}" srcOrd="0" destOrd="0" presId="urn:microsoft.com/office/officeart/2005/8/layout/hierarchy1"/>
    <dgm:cxn modelId="{12D53EA9-2303-4D7B-9FB6-6077590EA72D}" type="presParOf" srcId="{4C86A147-25DA-4136-B4C1-B06B6ACF313E}" destId="{4110CD96-507F-4020-8CC1-EFDB935E8AB6}" srcOrd="0" destOrd="0" presId="urn:microsoft.com/office/officeart/2005/8/layout/hierarchy1"/>
    <dgm:cxn modelId="{36F63C1A-6BA8-4DEC-9A63-9F351050F8A8}" type="presParOf" srcId="{4C86A147-25DA-4136-B4C1-B06B6ACF313E}" destId="{A71BFB4C-5091-4D4E-A672-F18BB1EDFA9A}" srcOrd="1" destOrd="0" presId="urn:microsoft.com/office/officeart/2005/8/layout/hierarchy1"/>
    <dgm:cxn modelId="{A5D2947F-B655-4B73-95A5-51DC1CAA4F16}" type="presParOf" srcId="{29FB19C0-3BEA-4360-8EBD-FFAF8FD54080}" destId="{696496CF-CE2D-419C-AA0B-CD17428BBE37}" srcOrd="1" destOrd="0" presId="urn:microsoft.com/office/officeart/2005/8/layout/hierarchy1"/>
    <dgm:cxn modelId="{E4838EE7-FA0B-4A0C-9DE7-12B0253C42A8}" type="presParOf" srcId="{4F109C17-6E13-49BB-A02D-89F8482A5034}" destId="{F04F19B7-89E7-4E4F-A9E6-B978F57CB734}" srcOrd="1" destOrd="0" presId="urn:microsoft.com/office/officeart/2005/8/layout/hierarchy1"/>
    <dgm:cxn modelId="{0B35036F-D655-40E4-A5C2-DC47773B8F56}" type="presParOf" srcId="{F04F19B7-89E7-4E4F-A9E6-B978F57CB734}" destId="{8F8456AD-385A-45EF-9ED1-AF1A167CFDDF}" srcOrd="0" destOrd="0" presId="urn:microsoft.com/office/officeart/2005/8/layout/hierarchy1"/>
    <dgm:cxn modelId="{1DDE44A6-A4FE-4D2A-90E9-D525239974C8}" type="presParOf" srcId="{8F8456AD-385A-45EF-9ED1-AF1A167CFDDF}" destId="{E3375B48-32D8-404E-A989-17D1FA6FD458}" srcOrd="0" destOrd="0" presId="urn:microsoft.com/office/officeart/2005/8/layout/hierarchy1"/>
    <dgm:cxn modelId="{B4E41686-BF48-4BE6-BFD7-F44BF50BA772}" type="presParOf" srcId="{8F8456AD-385A-45EF-9ED1-AF1A167CFDDF}" destId="{D724B68F-93DB-48C5-A2FA-96CF2B07D989}" srcOrd="1" destOrd="0" presId="urn:microsoft.com/office/officeart/2005/8/layout/hierarchy1"/>
    <dgm:cxn modelId="{C53DA480-DADC-4F34-9D61-EB65C6658BAB}" type="presParOf" srcId="{F04F19B7-89E7-4E4F-A9E6-B978F57CB734}" destId="{ADF29EC6-30EB-411C-B4E2-D4CDF6506C9E}" srcOrd="1" destOrd="0" presId="urn:microsoft.com/office/officeart/2005/8/layout/hierarchy1"/>
    <dgm:cxn modelId="{9549942C-429C-4DAA-88D2-679FD5348BD2}" type="presParOf" srcId="{4F109C17-6E13-49BB-A02D-89F8482A5034}" destId="{166BDC6D-0490-41C6-97FB-FC0E4B4A5122}" srcOrd="2" destOrd="0" presId="urn:microsoft.com/office/officeart/2005/8/layout/hierarchy1"/>
    <dgm:cxn modelId="{BA0024F3-F3AD-4671-A045-5335DBE3B679}" type="presParOf" srcId="{166BDC6D-0490-41C6-97FB-FC0E4B4A5122}" destId="{F7C67CDE-001D-470A-8351-50A346244C46}" srcOrd="0" destOrd="0" presId="urn:microsoft.com/office/officeart/2005/8/layout/hierarchy1"/>
    <dgm:cxn modelId="{9C7E832E-4795-42AA-A2C8-73E40E24BF00}" type="presParOf" srcId="{F7C67CDE-001D-470A-8351-50A346244C46}" destId="{29F213C5-492A-43F6-BA97-4D5F43CBCD16}" srcOrd="0" destOrd="0" presId="urn:microsoft.com/office/officeart/2005/8/layout/hierarchy1"/>
    <dgm:cxn modelId="{49BACC9C-336C-474B-A521-740696C5789E}" type="presParOf" srcId="{F7C67CDE-001D-470A-8351-50A346244C46}" destId="{F6896F8F-8406-41E8-8DBE-18151F4ACFCA}" srcOrd="1" destOrd="0" presId="urn:microsoft.com/office/officeart/2005/8/layout/hierarchy1"/>
    <dgm:cxn modelId="{6FDE134C-56CF-40C0-9952-D99AB9FCF9D5}" type="presParOf" srcId="{166BDC6D-0490-41C6-97FB-FC0E4B4A5122}" destId="{B42C5CBE-4F49-4FE7-A9C1-AC4C5D7AA4D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0CD96-507F-4020-8CC1-EFDB935E8AB6}">
      <dsp:nvSpPr>
        <dsp:cNvPr id="0" name=""/>
        <dsp:cNvSpPr/>
      </dsp:nvSpPr>
      <dsp:spPr>
        <a:xfrm>
          <a:off x="0" y="280942"/>
          <a:ext cx="2945511" cy="1870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71BFB4C-5091-4D4E-A672-F18BB1EDFA9A}">
      <dsp:nvSpPr>
        <dsp:cNvPr id="0" name=""/>
        <dsp:cNvSpPr/>
      </dsp:nvSpPr>
      <dsp:spPr>
        <a:xfrm>
          <a:off x="327279" y="591857"/>
          <a:ext cx="2945511" cy="18703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Poppins Light"/>
              <a:ea typeface="+mn-ea"/>
              <a:cs typeface="+mn-cs"/>
            </a:rPr>
            <a:t>Read .csv file using pandas</a:t>
          </a:r>
        </a:p>
      </dsp:txBody>
      <dsp:txXfrm>
        <a:off x="382061" y="646639"/>
        <a:ext cx="2835947" cy="1760835"/>
      </dsp:txXfrm>
    </dsp:sp>
    <dsp:sp modelId="{E3375B48-32D8-404E-A989-17D1FA6FD458}">
      <dsp:nvSpPr>
        <dsp:cNvPr id="0" name=""/>
        <dsp:cNvSpPr/>
      </dsp:nvSpPr>
      <dsp:spPr>
        <a:xfrm>
          <a:off x="3600069" y="280942"/>
          <a:ext cx="2945511" cy="1870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24B68F-93DB-48C5-A2FA-96CF2B07D989}">
      <dsp:nvSpPr>
        <dsp:cNvPr id="0" name=""/>
        <dsp:cNvSpPr/>
      </dsp:nvSpPr>
      <dsp:spPr>
        <a:xfrm>
          <a:off x="3927347" y="591857"/>
          <a:ext cx="2945511" cy="18703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latin typeface="Poppins Light"/>
              <a:ea typeface="+mn-ea"/>
              <a:cs typeface="+mn-cs"/>
            </a:rPr>
            <a:t>Price plotted per market </a:t>
          </a:r>
          <a:r>
            <a:rPr lang="en-US" sz="2700" b="1" kern="1200" dirty="0" err="1">
              <a:latin typeface="Poppins Light"/>
              <a:ea typeface="+mn-ea"/>
              <a:cs typeface="+mn-cs"/>
            </a:rPr>
            <a:t>snapsho</a:t>
          </a:r>
          <a:r>
            <a:rPr lang="en-US" sz="2700" b="1" kern="1200" dirty="0">
              <a:latin typeface="Poppins Light"/>
              <a:ea typeface="+mn-ea"/>
              <a:cs typeface="+mn-cs"/>
            </a:rPr>
            <a:t>t</a:t>
          </a:r>
        </a:p>
      </dsp:txBody>
      <dsp:txXfrm>
        <a:off x="3982129" y="646639"/>
        <a:ext cx="2835947" cy="1760835"/>
      </dsp:txXfrm>
    </dsp:sp>
    <dsp:sp modelId="{29F213C5-492A-43F6-BA97-4D5F43CBCD16}">
      <dsp:nvSpPr>
        <dsp:cNvPr id="0" name=""/>
        <dsp:cNvSpPr/>
      </dsp:nvSpPr>
      <dsp:spPr>
        <a:xfrm>
          <a:off x="7200138" y="280942"/>
          <a:ext cx="2945511" cy="1870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896F8F-8406-41E8-8DBE-18151F4ACFCA}">
      <dsp:nvSpPr>
        <dsp:cNvPr id="0" name=""/>
        <dsp:cNvSpPr/>
      </dsp:nvSpPr>
      <dsp:spPr>
        <a:xfrm>
          <a:off x="7527417" y="591857"/>
          <a:ext cx="2945511" cy="18703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latin typeface="Poppins Light"/>
              <a:ea typeface="+mn-ea"/>
              <a:cs typeface="+mn-cs"/>
            </a:rPr>
            <a:t>Chart updated every 5 seconds</a:t>
          </a:r>
        </a:p>
      </dsp:txBody>
      <dsp:txXfrm>
        <a:off x="7582199" y="646639"/>
        <a:ext cx="2835947" cy="1760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>
            <a:normAutofit/>
          </a:bodyPr>
          <a:lstStyle/>
          <a:p>
            <a:r>
              <a:rPr lang="en-US"/>
              <a:t>Market price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Presented by Jesse Pettis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/>
              <a:t>Data collection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Poppins Light"/>
              </a:rPr>
              <a:t>API and request pulled from </a:t>
            </a:r>
            <a:r>
              <a:rPr lang="en-US" b="1" dirty="0" err="1">
                <a:cs typeface="Poppins Light"/>
              </a:rPr>
              <a:t>LiveCoinWatch</a:t>
            </a:r>
            <a:endParaRPr lang="en-US" b="1">
              <a:cs typeface="Poppins Light"/>
            </a:endParaRPr>
          </a:p>
          <a:p>
            <a:r>
              <a:rPr lang="en-US" dirty="0">
                <a:cs typeface="Poppins Light"/>
              </a:rPr>
              <a:t>Sends request to </a:t>
            </a:r>
            <a:r>
              <a:rPr lang="en-US" dirty="0" err="1">
                <a:cs typeface="Poppins Light"/>
              </a:rPr>
              <a:t>LiveCoinWatch</a:t>
            </a:r>
            <a:r>
              <a:rPr lang="en-US" dirty="0">
                <a:cs typeface="Poppins Light"/>
              </a:rPr>
              <a:t> API</a:t>
            </a:r>
          </a:p>
          <a:p>
            <a:r>
              <a:rPr lang="en-US"/>
              <a:t>Retrieves real-time market data of XRP</a:t>
            </a:r>
            <a:endParaRPr lang="en-US">
              <a:cs typeface="Poppins Light"/>
            </a:endParaRPr>
          </a:p>
          <a:p>
            <a:r>
              <a:rPr lang="en-US"/>
              <a:t>Converts JSON into a Python dictionary</a:t>
            </a:r>
            <a:endParaRPr lang="en-US">
              <a:cs typeface="Poppins Light"/>
            </a:endParaRPr>
          </a:p>
          <a:p>
            <a:r>
              <a:rPr lang="en-US"/>
              <a:t>Extracts price and timestamp from API</a:t>
            </a:r>
            <a:endParaRPr lang="en-US">
              <a:cs typeface="Poppins Light"/>
            </a:endParaRPr>
          </a:p>
        </p:txBody>
      </p:sp>
      <p:pic>
        <p:nvPicPr>
          <p:cNvPr id="15" name="Picture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5749422" y="346759"/>
            <a:ext cx="6086539" cy="6207210"/>
          </a:xfr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81A14D3-C479-72B2-B93E-2592DBEB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/>
          <a:p>
            <a:r>
              <a:rPr lang="en-US" dirty="0"/>
              <a:t>Data </a:t>
            </a:r>
            <a:r>
              <a:rPr lang="en-US"/>
              <a:t>storage</a:t>
            </a:r>
            <a:endParaRPr lang="en-US" dirty="0"/>
          </a:p>
        </p:txBody>
      </p:sp>
      <p:pic>
        <p:nvPicPr>
          <p:cNvPr id="5" name="Picture Placeholder 4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A684DBDD-DE4D-ED60-CF93-2AD91D9F66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443401" y="0"/>
            <a:ext cx="11305196" cy="4635132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noFill/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FA1A858-1F3D-30A8-6F20-15C267D1A9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Poppins Light"/>
              </a:rPr>
              <a:t>OS library for path checking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Poppins Light"/>
              </a:rPr>
              <a:t>Stores price changes (delta) to percentage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Poppins Light"/>
              </a:rPr>
              <a:t>Appends data from API response to .csv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77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E23626F-9419-4740-9801-5EB2CC0C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352" y="907300"/>
            <a:ext cx="4676701" cy="1021162"/>
          </a:xfrm>
        </p:spPr>
        <p:txBody>
          <a:bodyPr/>
          <a:lstStyle/>
          <a:p>
            <a:pPr algn="ctr"/>
            <a:r>
              <a:rPr lang="en-US"/>
              <a:t>visualization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CD3994-F47E-6FB0-A98D-F1E552E7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6" r="6236" b="-89"/>
          <a:stretch>
            <a:fillRect/>
          </a:stretch>
        </p:blipFill>
        <p:spPr>
          <a:xfrm>
            <a:off x="341578" y="328234"/>
            <a:ext cx="6832903" cy="6218102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370ECD0-866A-8EBC-C75A-F3CB430B83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endParaRPr lang="en-US" dirty="0">
              <a:cs typeface="Poppins Light"/>
            </a:endParaRPr>
          </a:p>
          <a:p>
            <a:endParaRPr lang="en-US" dirty="0">
              <a:cs typeface="Poppins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8DA37B-7D9E-ADC2-2B60-EBBD23BD05D0}"/>
              </a:ext>
            </a:extLst>
          </p:cNvPr>
          <p:cNvSpPr txBox="1"/>
          <p:nvPr/>
        </p:nvSpPr>
        <p:spPr>
          <a:xfrm>
            <a:off x="7172739" y="3158434"/>
            <a:ext cx="443947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cs typeface="Poppins Light"/>
              </a:rPr>
              <a:t>Datetime library for timestamping </a:t>
            </a: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Poppins Light"/>
              </a:rPr>
              <a:t>Price changes (deltas) converted to percentage</a:t>
            </a: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Poppins Light"/>
              </a:rPr>
              <a:t>Fetches new data every 5 seconds</a:t>
            </a: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rmAutofit/>
          </a:bodyPr>
          <a:lstStyle/>
          <a:p>
            <a:r>
              <a:rPr lang="en-US" sz="4200"/>
              <a:t>Visualization </a:t>
            </a:r>
          </a:p>
        </p:txBody>
      </p:sp>
      <p:graphicFrame>
        <p:nvGraphicFramePr>
          <p:cNvPr id="12" name="Text Placeholder 2">
            <a:extLst>
              <a:ext uri="{FF2B5EF4-FFF2-40B4-BE49-F238E27FC236}">
                <a16:creationId xmlns:a16="http://schemas.microsoft.com/office/drawing/2014/main" id="{B0FB22D9-BBEC-894F-EE6C-3429FBF6F3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3690314"/>
              </p:ext>
            </p:extLst>
          </p:nvPr>
        </p:nvGraphicFramePr>
        <p:xfrm>
          <a:off x="859536" y="3594099"/>
          <a:ext cx="10472928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 anchor="t">
            <a:normAutofit/>
          </a:bodyPr>
          <a:lstStyle/>
          <a:p>
            <a:r>
              <a:rPr lang="en-US"/>
              <a:t>visualization</a:t>
            </a:r>
          </a:p>
        </p:txBody>
      </p:sp>
      <p:pic>
        <p:nvPicPr>
          <p:cNvPr id="4" name="Content Placeholder 3" descr="A graph with a line&#10;&#10;AI-generated content may be incorrect.">
            <a:extLst>
              <a:ext uri="{FF2B5EF4-FFF2-40B4-BE49-F238E27FC236}">
                <a16:creationId xmlns:a16="http://schemas.microsoft.com/office/drawing/2014/main" id="{CBB3D108-2EE7-A22F-F42F-22A21CC1148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519738" y="1880614"/>
            <a:ext cx="5681662" cy="413341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DA5CC3-12A3-3534-1A7A-61B4D14C6981}"/>
              </a:ext>
            </a:extLst>
          </p:cNvPr>
          <p:cNvSpPr txBox="1"/>
          <p:nvPr/>
        </p:nvSpPr>
        <p:spPr>
          <a:xfrm>
            <a:off x="613016" y="2703483"/>
            <a:ext cx="460048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Poppins Light"/>
              </a:rPr>
              <a:t>Each point </a:t>
            </a:r>
            <a:r>
              <a:rPr lang="en-US">
                <a:cs typeface="Poppins Light"/>
              </a:rPr>
              <a:t>represent</a:t>
            </a:r>
            <a:r>
              <a:rPr lang="en-US" dirty="0">
                <a:cs typeface="Poppins Light"/>
              </a:rPr>
              <a:t> a timestamp of live market data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Poppins Light"/>
              </a:rPr>
              <a:t>The line displays how XRP price changes over time</a:t>
            </a: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Poppins Ligh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Poppins Light"/>
              </a:rPr>
              <a:t>Price trend shows as more data is collected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/>
          <a:p>
            <a:r>
              <a:rPr lang="en-US"/>
              <a:t>prediction logic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54326"/>
            <a:ext cx="3595634" cy="2875962"/>
          </a:xfrm>
        </p:spPr>
        <p:txBody>
          <a:bodyPr anchor="t">
            <a:normAutofit/>
          </a:bodyPr>
          <a:lstStyle/>
          <a:p>
            <a:pPr marL="285750" indent="-285750">
              <a:buChar char="•"/>
            </a:pPr>
            <a:r>
              <a:rPr lang="en-US">
                <a:cs typeface="Poppins Light"/>
              </a:rPr>
              <a:t>Uses pandas to read from .csv file</a:t>
            </a:r>
            <a:endParaRPr lang="en-US" dirty="0">
              <a:cs typeface="Poppins Light"/>
            </a:endParaRPr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Uses NumPy (</a:t>
            </a:r>
            <a:r>
              <a:rPr lang="en-US" dirty="0" err="1">
                <a:ea typeface="+mn-lt"/>
                <a:cs typeface="+mn-lt"/>
              </a:rPr>
              <a:t>polyfit</a:t>
            </a:r>
            <a:r>
              <a:rPr lang="en-US" dirty="0">
                <a:ea typeface="+mn-lt"/>
                <a:cs typeface="+mn-lt"/>
              </a:rPr>
              <a:t>) to apply linear regression and estimate the next short-term price</a:t>
            </a:r>
          </a:p>
        </p:txBody>
      </p:sp>
      <p:pic>
        <p:nvPicPr>
          <p:cNvPr id="7" name="Picture Placeholder 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8A4B4ED4-091C-ADD9-2278-795056380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134708" y="1032174"/>
            <a:ext cx="6440258" cy="4797990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29F58-CE74-9EBC-0D1C-99E13DBE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53" y="1906736"/>
            <a:ext cx="42957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Gradient Circle</vt:lpstr>
      <vt:lpstr>Market price predictor</vt:lpstr>
      <vt:lpstr>Data collection</vt:lpstr>
      <vt:lpstr>Data storage</vt:lpstr>
      <vt:lpstr>visualization</vt:lpstr>
      <vt:lpstr>Visualization </vt:lpstr>
      <vt:lpstr>visualization</vt:lpstr>
      <vt:lpstr>prediction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316</cp:revision>
  <dcterms:created xsi:type="dcterms:W3CDTF">2026-05-03T22:00:54Z</dcterms:created>
  <dcterms:modified xsi:type="dcterms:W3CDTF">2026-05-05T16:49:34Z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